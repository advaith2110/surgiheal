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82880"/>
          </a:xfrm>
          <a:prstGeom prst="round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058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8CFF"/>
                </a:solidFill>
              </a:defRPr>
            </a:pPr>
            <a:r>
              <a:t>🏥 MEDTECH &amp; SURGICAL RECOVERY HACKATHON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800" b="1">
                <a:solidFill>
                  <a:srgbClr val="0F172A"/>
                </a:solidFill>
              </a:defRPr>
            </a:pPr>
            <a:r>
              <a:t>SurgiHeal</a:t>
            </a:r>
          </a:p>
          <a:p>
            <a:pPr>
              <a:defRPr sz="2600" b="1">
                <a:solidFill>
                  <a:srgbClr val="00B4A0"/>
                </a:solidFill>
              </a:defRPr>
            </a:pPr>
            <a:r>
              <a:t>Post-Operative Wound &amp; Recovery Guardian</a:t>
            </a:r>
          </a:p>
          <a:p>
            <a:pPr>
              <a:defRPr sz="1500">
                <a:solidFill>
                  <a:srgbClr val="334155"/>
                </a:solidFill>
              </a:defRPr>
            </a:pPr>
            <a:r>
              <a:t>An autonomous clinical intelligence platform preventing surgical complications, patient anxiety, and hospital readmissions.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4114800"/>
            <a:ext cx="3108960" cy="1645920"/>
          </a:xfrm>
          <a:prstGeom prst="roundRect">
            <a:avLst/>
          </a:prstGeom>
          <a:solidFill>
            <a:srgbClr val="E6FFFA"/>
          </a:solidFill>
          <a:ln w="254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42062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B4A0"/>
                </a:solidFill>
              </a:defRPr>
            </a:pPr>
            <a:r>
              <a:t>🩹 Multimodal Vision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Automated SSI surveillance, erythema measurement, and wound dehiscence tracking.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26279" y="4114800"/>
            <a:ext cx="3108960" cy="1645920"/>
          </a:xfrm>
          <a:prstGeom prst="roundRect">
            <a:avLst/>
          </a:prstGeom>
          <a:solidFill>
            <a:srgbClr val="F0F8FF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42062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8CFF"/>
                </a:solidFill>
              </a:defRPr>
            </a:pPr>
            <a:r>
              <a:t>📋 Clinical Informatics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Natural language parsing of discharge packets into structured daily medication roadmaps.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0" y="4114800"/>
            <a:ext cx="3108960" cy="1645920"/>
          </a:xfrm>
          <a:prstGeom prst="roundRect">
            <a:avLst/>
          </a:prstGeom>
          <a:solidFill>
            <a:srgbClr val="FFF0F5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420624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0055"/>
                </a:solidFill>
              </a:defRPr>
            </a:pPr>
            <a:r>
              <a:t>🚨 Predictive Triage</a:t>
            </a:r>
          </a:p>
          <a:p>
            <a:pPr>
              <a:defRPr sz="1200">
                <a:solidFill>
                  <a:srgbClr val="334155"/>
                </a:solidFill>
              </a:defRPr>
            </a:pPr>
            <a:r>
              <a:t>Active 24/7 symptom screening for early DVT, pulmonary embolism, and sepsis.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0055"/>
                </a:solidFill>
              </a:defRPr>
            </a:pPr>
            <a:r>
              <a:t>HEALTHCARE CRISIS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High-Risk 30-Day Post-Op Black Box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Discharge does not equate to recovery. The critical gap between hospital and outpatient clinic.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164592"/>
          </a:xfrm>
          <a:prstGeom prst="round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0055"/>
                </a:solidFill>
              </a:defRPr>
            </a:pPr>
            <a:r>
              <a:t>300,000+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Surgical Site Infections / Year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SSIs represent the single leading cause of preventable hospital readmission in the US, carrying a 3% mortality rate and prolonged patient suffering.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164592"/>
          </a:xfrm>
          <a:prstGeom prst="round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9100"/>
                </a:solidFill>
              </a:defRPr>
            </a:pPr>
            <a:r>
              <a:t>$3.3 BILLION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Annual Financial Drain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Hospitals face severe CMS Hospital Readmissions Reduction Program (HRRP) financial penalties, non-reimbursed care, and costly revision surgeries.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383280" cy="164592"/>
          </a:xfrm>
          <a:prstGeom prst="round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8CFF"/>
                </a:solidFill>
              </a:defRPr>
            </a:pPr>
            <a:r>
              <a:t>74% of Patients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Post-Op Anxiety &amp; Miscommunication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Patients leave hospitals overwhelmed by 10-page discharge packets, either ignoring lethal blood clot symptoms or rushing unnecessarily to crowded 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928CA"/>
                </a:solidFill>
              </a:defRPr>
            </a:pPr>
            <a:r>
              <a:t>ARCHITECTURE &amp; DATA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SurgiHeal End-to-End System Flow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How multimodal inputs translate into clinical decisions and patient peace-of-mind.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251460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14600" cy="164592"/>
          </a:xfrm>
          <a:prstGeom prst="round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8CFF"/>
                </a:solidFill>
              </a:defRPr>
            </a:pPr>
            <a:r>
              <a:t>1. Patient Input Layer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• Incision Photo (Mobile / Web)</a:t>
            </a:r>
            <a:br/>
            <a:r>
              <a:t>• Self-Reported Pain Scale (0-10)</a:t>
            </a:r>
            <a:br/>
            <a:r>
              <a:t>• Temporal Body Temperature</a:t>
            </a:r>
            <a:br/>
            <a:r>
              <a:t>• Discharge Summary PDF/Text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51460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74720" y="1920240"/>
            <a:ext cx="2514600" cy="164592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219456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B4A0"/>
                </a:solidFill>
              </a:defRPr>
            </a:pPr>
            <a:r>
              <a:t>2. Gemini 2.5 Flash Engine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• Multimodal Vision Tokenizer</a:t>
            </a:r>
            <a:br/>
            <a:r>
              <a:t>• Periwound Erythema Segmentation</a:t>
            </a:r>
            <a:br/>
            <a:r>
              <a:t>• Clinical NLP Document Extraction</a:t>
            </a:r>
            <a:br/>
            <a:r>
              <a:t>• Multi-turn Triage Reasoner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920240"/>
            <a:ext cx="251460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2514600" cy="164592"/>
          </a:xfrm>
          <a:prstGeom prst="round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219456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9100"/>
                </a:solidFill>
              </a:defRPr>
            </a:pPr>
            <a:r>
              <a:t>3. Schema &amp; Guardrails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• Strict Pydantic V2 Schema Validation</a:t>
            </a:r>
            <a:br/>
            <a:r>
              <a:t>• CDC NHSN Criteria Grounding</a:t>
            </a:r>
            <a:br/>
            <a:r>
              <a:t>• Zero-Hallucination Constraints</a:t>
            </a:r>
            <a:br/>
            <a:r>
              <a:t>• Failsafe Deterministic Fallback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20" y="1920240"/>
            <a:ext cx="251460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92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961120" y="1920240"/>
            <a:ext cx="2514600" cy="164592"/>
          </a:xfrm>
          <a:prstGeom prst="round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98280" y="2194560"/>
            <a:ext cx="22402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7928CA"/>
                </a:solidFill>
              </a:defRPr>
            </a:pPr>
            <a:r>
              <a:t>4. Dual Delivery Interface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• Patient Reassurance Card (6th gr.)</a:t>
            </a:r>
            <a:br/>
            <a:r>
              <a:t>• Clinician SOAP &amp; Audit Note</a:t>
            </a:r>
            <a:br/>
            <a:r>
              <a:t>• Surgeon Registry Heatmap</a:t>
            </a:r>
            <a:br/>
            <a:r>
              <a:t>• 1-Click Automated Escalations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A0"/>
                </a:solidFill>
              </a:defRPr>
            </a:pPr>
            <a:r>
              <a:t>COMPUTER VISION DEEP-DIVE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Automated SSI Surveillance &amp; Image Biomarkers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Extracting quantifiable surgical indicators from standard smartphone photography.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64592" cy="196596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A0"/>
                </a:solidFill>
              </a:defRPr>
            </a:pPr>
            <a:r>
              <a:t>Erythema Spread Scoring (0-10)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Quantifies redness halos around the incision line. Accurately distinguishes normal reactive healing erythema (&lt;5mm) from expanding microbial cellulitis (&gt;2cm).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5120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164592" cy="1965960"/>
          </a:xfrm>
          <a:prstGeom prst="round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CFF"/>
                </a:solidFill>
              </a:defRPr>
            </a:pPr>
            <a:r>
              <a:t>Exudate Spectral Characterization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Differentiates benign clear/straw-colored serous fluid from purulent (cloudy yellow/green) exudate—the cardinal visual biomarker of bacterial infection.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92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64592" cy="1965960"/>
          </a:xfrm>
          <a:prstGeom prst="round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51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928CA"/>
                </a:solidFill>
              </a:defRPr>
            </a:pPr>
            <a:r>
              <a:t>Wound Edge Approximation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Audits surgical staple and suture spacing, detecting mechanical tension, minor gap separation, and critical surgical dehiscence (open wound breakdown).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114800"/>
            <a:ext cx="5120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4114800"/>
            <a:ext cx="164592" cy="1965960"/>
          </a:xfrm>
          <a:prstGeom prst="round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251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0055"/>
                </a:solidFill>
              </a:defRPr>
            </a:pPr>
            <a:r>
              <a:t>Predictive SSI Risk Percentage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Synthesizes visual markers, post-op day timeline, patient body temperature, and reported pain into a predictive infection probability index.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CFF"/>
                </a:solidFill>
              </a:defRPr>
            </a:pPr>
            <a:r>
              <a:t>CLINICAL NLP &amp; INFORMATICS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Discharge Paperwork Intelligence &amp; Medication Tapering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Transforming dense, passive discharge packets into dynamic, interactive recovery roadmaps.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164592"/>
          </a:xfrm>
          <a:prstGeom prst="round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CFF"/>
                </a:solidFill>
              </a:defRPr>
            </a:pPr>
            <a:r>
              <a:t>Dynamic Medication Schedules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• Extracts brand/generic drugs, precise dosages, and schedules.</a:t>
            </a:r>
            <a:br/>
            <a:r>
              <a:t>• Highlights drug purpose (e.g. DVT prophylaxis, pain, antibiotic).</a:t>
            </a:r>
            <a:br/>
            <a:r>
              <a:t>• Enforces safe opioid tapering schedules and NSAID food alerts.</a:t>
            </a:r>
            <a:br/>
            <a:r>
              <a:t>• Cross-references contraindications and duplicate therapies.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164592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A0"/>
                </a:solidFill>
              </a:defRPr>
            </a:pPr>
            <a:r>
              <a:t>Surgical Activity &amp; Hygiene Rules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• Translates weight-bearing limitations (e.g. 50% partial vs full).</a:t>
            </a:r>
            <a:br/>
            <a:r>
              <a:t>• Clear showering vs bathing milestones (waterproof seal rules).</a:t>
            </a:r>
            <a:br/>
            <a:r>
              <a:t>• Elevating instructions and graduated compression stocking schedule.</a:t>
            </a:r>
            <a:br/>
            <a:r>
              <a:t>• Eliminates ambiguity regarding when driving or exercise can resume.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92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383280" cy="164592"/>
          </a:xfrm>
          <a:prstGeom prst="round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928CA"/>
                </a:solidFill>
              </a:defRPr>
            </a:pPr>
            <a:r>
              <a:t>Milestone Checklists &amp; Protocol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• Day 1-3: Acute inflammatory pacing, cryotherapy, and ankle pumps.</a:t>
            </a:r>
            <a:br/>
            <a:r>
              <a:t>• Day 7: Surgical dressing inspection and suture review.</a:t>
            </a:r>
            <a:br/>
            <a:r>
              <a:t>• Day 14: Staple removal milestone and clinic checkup.</a:t>
            </a:r>
            <a:br/>
            <a:r>
              <a:t>• Day 30: Ambulation independence and physical therapy advancement.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0055"/>
                </a:solidFill>
              </a:defRPr>
            </a:pPr>
            <a:r>
              <a:t>EMERGENCY CLINICAL TRIAGE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Catching Silent Killers: DVT, Sepsis &amp; Dehiscence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Active 24/7 symptom screening separating routine healing sensations from life-threatening crises.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10698480" cy="1325880"/>
          </a:xfrm>
          <a:prstGeom prst="roundRect">
            <a:avLst/>
          </a:prstGeom>
          <a:solidFill>
            <a:srgbClr val="FFF0F5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64592" cy="1325880"/>
          </a:xfrm>
          <a:prstGeom prst="round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29968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0055"/>
                </a:solidFill>
              </a:defRPr>
            </a:pPr>
            <a:r>
              <a:t>🚨 TIER 1: Deep Vein Thrombosis (DVT) / Pulmonary Embolism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Triggers: Unilateral calf swelling, cramp-like tenderness, warmth, dyspnea, or chest pain.</a:t>
            </a:r>
            <a:br/>
            <a:r>
              <a:t>Clinical Action: IMMEDIATE Emergency 911 / ER alert. Instructs patient NOT to massage or rub calf (preventing clot embolization). Triggers urgent venous Doppler ultrasound.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29000"/>
            <a:ext cx="10698480" cy="1325880"/>
          </a:xfrm>
          <a:prstGeom prst="roundRect">
            <a:avLst/>
          </a:prstGeom>
          <a:solidFill>
            <a:srgbClr val="FFF8E6"/>
          </a:solidFill>
          <a:ln w="254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64592" cy="1325880"/>
          </a:xfrm>
          <a:prstGeom prst="round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38728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F9100"/>
                </a:solidFill>
              </a:defRPr>
            </a:pPr>
            <a:r>
              <a:t>⚠️ TIER 2: Surgical Site Infection (SSI) &amp; Early Sepsis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Triggers: Expanding erythema &gt;2.5cm, purulent exudate, foul odor, or fever &gt;100.4°F (38.0°C).</a:t>
            </a:r>
            <a:br/>
            <a:r>
              <a:t>Clinical Action: Urgent same-day surgical team callback. Guides sterile dry dressing coverage, advises against home antibiotic creams, and orders oral antibiotics before deep sepsis.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10698480" cy="1325880"/>
          </a:xfrm>
          <a:prstGeom prst="roundRect">
            <a:avLst/>
          </a:prstGeom>
          <a:solidFill>
            <a:srgbClr val="EBFFF2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937760"/>
            <a:ext cx="164592" cy="1325880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047488"/>
            <a:ext cx="1024128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C853"/>
                </a:solidFill>
              </a:defRPr>
            </a:pPr>
            <a:r>
              <a:t>🟢 TIER 3: Routine Expected Post-Operative Sensations</a:t>
            </a:r>
          </a:p>
          <a:p>
            <a:pPr>
              <a:defRPr sz="1250">
                <a:solidFill>
                  <a:srgbClr val="0F172A"/>
                </a:solidFill>
              </a:defRPr>
            </a:pPr>
            <a:r>
              <a:t>Triggers: Gentle pulling around sutures, mild itching, light serous fluid, mild bruising.</a:t>
            </a:r>
            <a:br/>
            <a:r>
              <a:t>Clinical Action: Immediate empathetic reassurance, pain pacing guidance, and ice/elevation reminder. Eliminates midnight emergency room crowding.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A0"/>
                </a:solidFill>
              </a:defRPr>
            </a:pPr>
            <a:r>
              <a:t>HUMAN-AI DESIGN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The Dual-Perspective Switcher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Simultaneously serving patient psychological needs and clinician regulatory documentation.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164592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B4A0"/>
                </a:solidFill>
              </a:defRPr>
            </a:pPr>
            <a:r>
              <a:t>👤 For Patients: Calm Reassurance Card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Empathetic Literacy: Written strictly at a 6th-grade reading level to maximize comprehension and reduce stress.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Normalizing Sensation: Reassures patients that mild staple itchiness and light pink borders are expected biological repair signals.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Actionable Dos &amp; Don'ts: Step-by-step bullet points on dressing protection, icing intervals, and elevation posture.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Explicit Boundary Warnings: Exact clinical triggers specifying when to call the clinic vs when to head to the 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920240"/>
            <a:ext cx="51206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217920" y="1920240"/>
            <a:ext cx="5120640" cy="164592"/>
          </a:xfrm>
          <a:prstGeom prst="round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8CFF"/>
                </a:solidFill>
              </a:defRPr>
            </a:pPr>
            <a:r>
              <a:t>🩺 For Clinicians: Structured Technical Audit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Quantitative Biomarkers: Exact erythema spread radius (cm), swelling grade (None/Mild/Mod/Sev), and exudate spectral classification.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Wound Approximation Index: Quantitative coaptation audit of surgical staples/sutures to identify partial dehiscence early.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Standardized CDC Alignment: Formatted directly to CDC NHSN superficial and deep incisional SSI surveillance criteria.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• EHR-Ready Documentation: Structured clinical JSON ready for 1-click export into Epic, Cerner, or Meditech SOAP charts.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928CA"/>
                </a:solidFill>
              </a:defRPr>
            </a:pPr>
            <a:r>
              <a:t>DEMONSTRATION BENCHMARKS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Clinical Case Studies: Normal vs Complicated Recovery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Three rigorous clinical validation archetypes tested across our multimodal pipeline.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164592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C853"/>
                </a:solidFill>
              </a:defRPr>
            </a:pPr>
            <a:r>
              <a:t>CASE A: Sarah Jenkins (62 y/o)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Total Knee Arthroplasty (Day 4)</a:t>
            </a:r>
          </a:p>
          <a:p>
            <a:br/>
            <a:pPr>
              <a:defRPr sz="1250">
                <a:solidFill>
                  <a:srgbClr val="334155"/>
                </a:solidFill>
              </a:defRPr>
            </a:pPr>
            <a:r>
              <a:t>• Vitals: Temp 98.6°F | Pain 3/10</a:t>
            </a:r>
            <a:br/>
            <a:r>
              <a:t>• Vision Finding: Clean staple spacing, minimal serous fluid, 1/10 reactive halo.</a:t>
            </a:r>
            <a:br/>
            <a:r>
              <a:t>• SSI Risk Score: 8% (Normal)</a:t>
            </a:r>
            <a:br/>
            <a:r>
              <a:t>• Outcome: Immediate reassurance, PT milestone pacing, clinic visit confirmed.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00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164592"/>
          </a:xfrm>
          <a:prstGeom prst="roundRect">
            <a:avLst/>
          </a:prstGeom>
          <a:solidFill>
            <a:srgbClr val="FF00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0055"/>
                </a:solidFill>
              </a:defRPr>
            </a:pPr>
            <a:r>
              <a:t>CASE B: Marcus Vance (34 y/o)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Laparoscopic Appendectomy (Day 6)</a:t>
            </a:r>
          </a:p>
          <a:p>
            <a:br/>
            <a:pPr>
              <a:defRPr sz="1250">
                <a:solidFill>
                  <a:srgbClr val="334155"/>
                </a:solidFill>
              </a:defRPr>
            </a:pPr>
            <a:r>
              <a:t>• Vitals: Temp 101.2°F | Pain 7/10</a:t>
            </a:r>
            <a:br/>
            <a:r>
              <a:t>• Vision Finding: Spreading periumbilical erythema &gt;2.5cm, cloudy purulent exudate.</a:t>
            </a:r>
            <a:br/>
            <a:r>
              <a:t>• SSI Risk Score: 84% (Urgent SSI)</a:t>
            </a:r>
            <a:br/>
            <a:r>
              <a:t>• Outcome: Same-day clinic escalation, oral antibiotic started 48h before sepsis.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383280" cy="164592"/>
          </a:xfrm>
          <a:prstGeom prst="round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9100"/>
                </a:solidFill>
              </a:defRPr>
            </a:pPr>
            <a:r>
              <a:t>CASE C: Robert Chen (58 y/o)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Total Hip Arthroplasty (Day 3)</a:t>
            </a:r>
          </a:p>
          <a:p>
            <a:br/>
            <a:pPr>
              <a:defRPr sz="1250">
                <a:solidFill>
                  <a:srgbClr val="334155"/>
                </a:solidFill>
              </a:defRPr>
            </a:pPr>
            <a:r>
              <a:t>• Vitals: Temp 99.1°F | Pain 6/10</a:t>
            </a:r>
            <a:br/>
            <a:r>
              <a:t>• Incision: Clean, dry, intact closure.</a:t>
            </a:r>
            <a:br/>
            <a:r>
              <a:t>• Remote Red Flag: Acute right calf pain, swelling, warmth, and mild dyspnea.</a:t>
            </a:r>
            <a:br/>
            <a:r>
              <a:t>• Outcome: Emergency DVT/PE protocol activated; directed to ER Doppler ultrasound.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8CFF"/>
                </a:solidFill>
              </a:defRPr>
            </a:pPr>
            <a:r>
              <a:t>PROVIDER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Surgeon Command Center: Population Surveillance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Centralized triage board enabling surgical teams to monitor outpatients at scale.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5120640" cy="164592"/>
          </a:xfrm>
          <a:prstGeom prst="round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8CFF"/>
                </a:solidFill>
              </a:defRPr>
            </a:pPr>
            <a:r>
              <a:t>📊 Risk-Stratified Triage Registry</a:t>
            </a:r>
          </a:p>
          <a:p>
            <a:br/>
            <a:pPr>
              <a:defRPr sz="1350">
                <a:solidFill>
                  <a:srgbClr val="334155"/>
                </a:solidFill>
              </a:defRPr>
            </a:pPr>
            <a:r>
              <a:t>• Outpatients automatically ranked by predictive SSI Risk Index and acute vital changes.</a:t>
            </a:r>
            <a:br/>
            <a:r>
              <a:t>• Color-coded risk badges (🟢 On Track, 🟡 Caution, 🔴 Urgent Alert).</a:t>
            </a:r>
            <a:br/>
            <a:r>
              <a:t>• Longitudinal photo timeline inspection for every patient incision update.</a:t>
            </a:r>
            <a:br/>
            <a:r>
              <a:t>• Real-time notification feed filtering out routine noise.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512064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5120640" cy="164592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194560"/>
            <a:ext cx="45720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B4A0"/>
                </a:solidFill>
              </a:defRPr>
            </a:pPr>
            <a:r>
              <a:t>⚡ 1-Click Clinical Action Dispatch</a:t>
            </a:r>
          </a:p>
          <a:p>
            <a:br/>
            <a:pPr>
              <a:defRPr sz="1350">
                <a:solidFill>
                  <a:srgbClr val="334155"/>
                </a:solidFill>
              </a:defRPr>
            </a:pPr>
            <a:r>
              <a:t>• Send Reassurance: One-click SMS/App push confirming normal healing trajectory.</a:t>
            </a:r>
            <a:br/>
            <a:r>
              <a:t>• Order Home Health: Automated dispatch for home-health wound dressing change.</a:t>
            </a:r>
            <a:br/>
            <a:r>
              <a:t>• Emergency Escalation: Immediate direct-to-clinic or ER triage coordination.</a:t>
            </a:r>
            <a:br/>
            <a:r>
              <a:t>• Eliminates 42 minutes of manual chart review and telephone tag per doctor daily.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FF9100"/>
                </a:solidFill>
              </a:defRPr>
            </a:pPr>
            <a:r>
              <a:t>ECONOMIC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Clinical ROI &amp; Health Economics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Substantial financial return-on-investment across healthcare providers and payors.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C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164592"/>
          </a:xfrm>
          <a:prstGeom prst="round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0C853"/>
                </a:solidFill>
              </a:defRPr>
            </a:pPr>
            <a:r>
              <a:t>3.1% DROP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30-Day Hospital Readmission Rate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Early at-home detection of superficial SSIs allows targeted oral antibiotics, stopping deep space infections that trigger $50,000 readmissions.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164592"/>
          </a:xfrm>
          <a:prstGeom prst="round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9100"/>
                </a:solidFill>
              </a:defRPr>
            </a:pPr>
            <a:r>
              <a:t>$1.8 MILLION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Annual Savings per 1,000 Surgeries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Mitigates CMS penalty deductions, reduces uncompensated revision operations, and minimizes emergency room utilization.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92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383280" cy="164592"/>
          </a:xfrm>
          <a:prstGeom prst="round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75320" y="2194560"/>
            <a:ext cx="29260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928CA"/>
                </a:solidFill>
              </a:defRPr>
            </a:pPr>
            <a:r>
              <a:t>42 MINS / DAY</a:t>
            </a:r>
          </a:p>
          <a:p>
            <a:pPr>
              <a:defRPr sz="1700" b="1">
                <a:solidFill>
                  <a:srgbClr val="0F172A"/>
                </a:solidFill>
              </a:defRPr>
            </a:pPr>
            <a:r>
              <a:t>Clinician Time Saved per Surgeon</a:t>
            </a:r>
          </a:p>
          <a:p>
            <a:br/>
            <a:pPr>
              <a:defRPr sz="1300">
                <a:solidFill>
                  <a:srgbClr val="334155"/>
                </a:solidFill>
              </a:defRPr>
            </a:pPr>
            <a:r>
              <a:t>Automated chart summarization, structured discharge extraction, and pre-triaged patient messages drastically reduce clinician documentation burnout.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B4A0"/>
                </a:solidFill>
              </a:defRPr>
            </a:pPr>
            <a:r>
              <a:t>SECURITY &amp;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Safety Guardrails &amp; HIPAA-Aligned Architecture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Medical-grade security and deterministic reliability designed for clinical deployment.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5120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164592" cy="196596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A0"/>
                </a:solidFill>
              </a:defRPr>
            </a:pPr>
            <a:r>
              <a:t>Strict Schema Enforcement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Pydantic V2 response_schema constraint ensures 100% structured JSON outputs, completely eliminating model hallucinations and unstructured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920240"/>
            <a:ext cx="5120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126480" y="1920240"/>
            <a:ext cx="164592" cy="1965960"/>
          </a:xfrm>
          <a:prstGeom prst="round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20574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CFF"/>
                </a:solidFill>
              </a:defRPr>
            </a:pPr>
            <a:r>
              <a:t>Deterministic Fallback Simulation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Built-in clinical rule engine ensures unbroken continuity of care and uninterrupted presentation uptime during network downtime.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114800"/>
            <a:ext cx="5120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92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64592" cy="1965960"/>
          </a:xfrm>
          <a:prstGeom prst="round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251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928CA"/>
                </a:solidFill>
              </a:defRPr>
            </a:pPr>
            <a:r>
              <a:t>HIPAA-Compliant Image Handling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Zero unencrypted image persistence. Photos are tokenized ephemerally in transit with TLS 1.3 encryption and patient de-identification.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4114800"/>
            <a:ext cx="5120640" cy="1965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1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4114800"/>
            <a:ext cx="164592" cy="1965960"/>
          </a:xfrm>
          <a:prstGeom prst="roundRect">
            <a:avLst/>
          </a:prstGeom>
          <a:solidFill>
            <a:srgbClr val="FF9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425196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9100"/>
                </a:solidFill>
              </a:defRPr>
            </a:pPr>
            <a:r>
              <a:t>Clinical Boundary Disclaimers</a:t>
            </a:r>
          </a:p>
          <a:p>
            <a:pPr>
              <a:defRPr sz="1300">
                <a:solidFill>
                  <a:srgbClr val="334155"/>
                </a:solidFill>
              </a:defRPr>
            </a:pPr>
            <a:r>
              <a:t>Clear diagnostic guardrails reminding patients that SurgiHeal is an assistive copilot, requiring human surgical confirmation for medical orders.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7928CA"/>
                </a:solidFill>
              </a:defRPr>
            </a:pPr>
            <a:r>
              <a:t>COMMERCIAL SCALING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172A"/>
                </a:solidFill>
              </a:defRPr>
            </a:pPr>
            <a:r>
              <a:t>Strategic Horizon: From MVP to FDA Clearance</a:t>
            </a:r>
          </a:p>
          <a:p>
            <a:pPr>
              <a:defRPr sz="1400">
                <a:solidFill>
                  <a:srgbClr val="64748B"/>
                </a:solidFill>
              </a:defRPr>
            </a:pPr>
            <a:r>
              <a:t>Path to commercial scale across hospital systems and ambulatory surgical centers.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3383280" cy="164592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B4A0"/>
                </a:solidFill>
              </a:defRPr>
            </a:pPr>
            <a:r>
              <a:t>Phase 1: Hackathon MVP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Completed &amp; Operational</a:t>
            </a:r>
          </a:p>
          <a:p>
            <a:br/>
            <a:pPr>
              <a:defRPr sz="1250">
                <a:solidFill>
                  <a:srgbClr val="334155"/>
                </a:solidFill>
              </a:defRPr>
            </a:pPr>
            <a:r>
              <a:t>• Multimodal incision vision &amp; SSI risk engine</a:t>
            </a:r>
            <a:br/>
            <a:r>
              <a:t>• Discharge paper parsing &amp; medication roadmap</a:t>
            </a:r>
            <a:br/>
            <a:r>
              <a:t>• 24/7 DVT &amp; Sepsis emergency triage</a:t>
            </a:r>
            <a:br/>
            <a:r>
              <a:t>• Surgeon population surveillance command center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389120" y="1920240"/>
            <a:ext cx="3383280" cy="164592"/>
          </a:xfrm>
          <a:prstGeom prst="roundRect">
            <a:avLst/>
          </a:prstGeom>
          <a:solidFill>
            <a:srgbClr val="008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8CFF"/>
                </a:solidFill>
              </a:defRPr>
            </a:pPr>
            <a:r>
              <a:t>Phase 2: EHR Interoperability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Q3 - Q4 2026</a:t>
            </a:r>
          </a:p>
          <a:p>
            <a:br/>
            <a:pPr>
              <a:defRPr sz="1250">
                <a:solidFill>
                  <a:srgbClr val="334155"/>
                </a:solidFill>
              </a:defRPr>
            </a:pPr>
            <a:r>
              <a:t>• SMART on FHIR integration with Epic, Cerner &amp; Meditech</a:t>
            </a:r>
            <a:br/>
            <a:r>
              <a:t>• Continuous Bluetooth temperature patch integration</a:t>
            </a:r>
            <a:br/>
            <a:r>
              <a:t>• SOC-2 Type II and HIPAA business associate agreements</a:t>
            </a:r>
            <a:br/>
            <a:r>
              <a:t>• Ambulatory Surgical Center (ASC) pilot deployments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920240"/>
            <a:ext cx="3383280" cy="42976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7928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46720" y="1920240"/>
            <a:ext cx="3383280" cy="164592"/>
          </a:xfrm>
          <a:prstGeom prst="roundRect">
            <a:avLst/>
          </a:prstGeom>
          <a:solidFill>
            <a:srgbClr val="7928C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2148840"/>
            <a:ext cx="3017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7928CA"/>
                </a:solidFill>
              </a:defRPr>
            </a:pPr>
            <a:r>
              <a:t>Phase 3: Video Rehab &amp; SaMD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2027 Expansion</a:t>
            </a:r>
          </a:p>
          <a:p>
            <a:br/>
            <a:pPr>
              <a:defRPr sz="1250">
                <a:solidFill>
                  <a:srgbClr val="334155"/>
                </a:solidFill>
              </a:defRPr>
            </a:pPr>
            <a:r>
              <a:t>• Computer vision Range of Motion (ROM) measurement</a:t>
            </a:r>
            <a:br/>
            <a:r>
              <a:t>• FDA 510(k) Software as a Medical Device (SaMD) clearance</a:t>
            </a:r>
            <a:br/>
            <a:r>
              <a:t>• Enterprise B2B SaaS licensing to integrated health systems</a:t>
            </a:r>
            <a:br/>
            <a:r>
              <a:t>• Global expansion across orthopedic and general surgery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548640"/>
            <a:ext cx="10728655" cy="576072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00B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48640"/>
            <a:ext cx="10728655" cy="182880"/>
          </a:xfrm>
          <a:prstGeom prst="roundRect">
            <a:avLst/>
          </a:prstGeom>
          <a:solidFill>
            <a:srgbClr val="00B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10058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0B4A0"/>
                </a:solidFill>
              </a:defRPr>
            </a:pPr>
            <a:r>
              <a:t>CONCLUSION &amp; CLINICAL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137160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0F172A"/>
                </a:solidFill>
              </a:defRPr>
            </a:pPr>
            <a:r>
              <a:t>SurgiHeal: Healing Smarter, Together</a:t>
            </a:r>
          </a:p>
          <a:p>
            <a:pPr>
              <a:defRPr sz="2000" b="1">
                <a:solidFill>
                  <a:srgbClr val="00B4A0"/>
                </a:solidFill>
              </a:defRPr>
            </a:pPr>
            <a:r>
              <a:t>Transforming the post-operative recovery journey from anxiety to certainty.</a:t>
            </a:r>
          </a:p>
          <a:p>
            <a:br/>
            <a:pPr>
              <a:defRPr sz="1600" b="1">
                <a:solidFill>
                  <a:srgbClr val="0F172A"/>
                </a:solidFill>
              </a:defRPr>
            </a:pPr>
            <a:r>
              <a:t>Key Clinical Deliverables: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✅ Proactive Complication Prevention: Catches SSIs, DVT, and dehiscence days before hospital readmission.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✅ Dual-Perspective Human AI: Empowers anxious patients while automating clinical documentation for surgeons.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✅ Economic Sustainability: Delivers $1.8M in annual savings per 1,000 surgical procedures and relieves burnout.</a:t>
            </a:r>
          </a:p>
          <a:p>
            <a:pPr>
              <a:defRPr sz="1400">
                <a:solidFill>
                  <a:srgbClr val="334155"/>
                </a:solidFill>
              </a:defRPr>
            </a:pPr>
            <a:r>
              <a:t>✅ Production-Ready Architecture: Built on Gemini 2.5 Flash with deterministic clinical guardrails.</a:t>
            </a:r>
          </a:p>
          <a:p>
            <a:br/>
            <a:pPr>
              <a:defRPr sz="2000" b="1">
                <a:solidFill>
                  <a:srgbClr val="FF0055"/>
                </a:solidFill>
              </a:defRPr>
            </a:pPr>
            <a:r>
              <a:t>Thank You! We are now open for Questions &amp; Discussion.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